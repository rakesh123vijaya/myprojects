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8" r:id="rId1"/>
  </p:sld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CC846B-D340-4AD3-A429-4D716FD91DEF}" v="41" dt="2026-09-03T05:37:03.9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kesh Gopireddy" userId="917bd1301fc7ed03" providerId="LiveId" clId="{007CE2C0-6862-4887-BCBF-6FEB481F3277}"/>
    <pc:docChg chg="undo custSel addSld delSld modSld">
      <pc:chgData name="Rakesh Gopireddy" userId="917bd1301fc7ed03" providerId="LiveId" clId="{007CE2C0-6862-4887-BCBF-6FEB481F3277}" dt="2026-09-03T05:39:14.895" v="3554" actId="2711"/>
      <pc:docMkLst>
        <pc:docMk/>
      </pc:docMkLst>
      <pc:sldChg chg="del">
        <pc:chgData name="Rakesh Gopireddy" userId="917bd1301fc7ed03" providerId="LiveId" clId="{007CE2C0-6862-4887-BCBF-6FEB481F3277}" dt="2026-09-03T04:09:34.475" v="1" actId="47"/>
        <pc:sldMkLst>
          <pc:docMk/>
          <pc:sldMk cId="2734617139" sldId="256"/>
        </pc:sldMkLst>
      </pc:sldChg>
      <pc:sldChg chg="addSp modSp new mod">
        <pc:chgData name="Rakesh Gopireddy" userId="917bd1301fc7ed03" providerId="LiveId" clId="{007CE2C0-6862-4887-BCBF-6FEB481F3277}" dt="2026-09-03T05:32:33.441" v="3534" actId="20577"/>
        <pc:sldMkLst>
          <pc:docMk/>
          <pc:sldMk cId="3101716932" sldId="257"/>
        </pc:sldMkLst>
        <pc:spChg chg="add mod">
          <ac:chgData name="Rakesh Gopireddy" userId="917bd1301fc7ed03" providerId="LiveId" clId="{007CE2C0-6862-4887-BCBF-6FEB481F3277}" dt="2026-09-03T04:11:23.182" v="81" actId="122"/>
          <ac:spMkLst>
            <pc:docMk/>
            <pc:sldMk cId="3101716932" sldId="257"/>
            <ac:spMk id="2" creationId="{24663AFE-B8FE-3D7E-D36E-6C626819D103}"/>
          </ac:spMkLst>
        </pc:spChg>
        <pc:spChg chg="add mod">
          <ac:chgData name="Rakesh Gopireddy" userId="917bd1301fc7ed03" providerId="LiveId" clId="{007CE2C0-6862-4887-BCBF-6FEB481F3277}" dt="2026-09-03T05:32:33.441" v="3534" actId="20577"/>
          <ac:spMkLst>
            <pc:docMk/>
            <pc:sldMk cId="3101716932" sldId="257"/>
            <ac:spMk id="3" creationId="{7B95E439-0859-4E39-4615-7B602292356B}"/>
          </ac:spMkLst>
        </pc:spChg>
      </pc:sldChg>
      <pc:sldChg chg="addSp modSp new mod">
        <pc:chgData name="Rakesh Gopireddy" userId="917bd1301fc7ed03" providerId="LiveId" clId="{007CE2C0-6862-4887-BCBF-6FEB481F3277}" dt="2026-09-03T05:37:25.369" v="3536" actId="2711"/>
        <pc:sldMkLst>
          <pc:docMk/>
          <pc:sldMk cId="2913029790" sldId="258"/>
        </pc:sldMkLst>
        <pc:spChg chg="add mod">
          <ac:chgData name="Rakesh Gopireddy" userId="917bd1301fc7ed03" providerId="LiveId" clId="{007CE2C0-6862-4887-BCBF-6FEB481F3277}" dt="2026-09-03T04:13:29.372" v="126" actId="2711"/>
          <ac:spMkLst>
            <pc:docMk/>
            <pc:sldMk cId="2913029790" sldId="258"/>
            <ac:spMk id="2" creationId="{F02524E7-19F6-0AB6-EBD5-C41484ABC2A1}"/>
          </ac:spMkLst>
        </pc:spChg>
        <pc:spChg chg="add mod">
          <ac:chgData name="Rakesh Gopireddy" userId="917bd1301fc7ed03" providerId="LiveId" clId="{007CE2C0-6862-4887-BCBF-6FEB481F3277}" dt="2026-09-03T05:37:25.369" v="3536" actId="2711"/>
          <ac:spMkLst>
            <pc:docMk/>
            <pc:sldMk cId="2913029790" sldId="258"/>
            <ac:spMk id="3" creationId="{5AF49658-5481-BBD0-BC37-6289428FA5E0}"/>
          </ac:spMkLst>
        </pc:spChg>
      </pc:sldChg>
      <pc:sldChg chg="addSp modSp new mod">
        <pc:chgData name="Rakesh Gopireddy" userId="917bd1301fc7ed03" providerId="LiveId" clId="{007CE2C0-6862-4887-BCBF-6FEB481F3277}" dt="2026-09-03T05:37:50.152" v="3539" actId="14100"/>
        <pc:sldMkLst>
          <pc:docMk/>
          <pc:sldMk cId="3292521618" sldId="259"/>
        </pc:sldMkLst>
        <pc:spChg chg="add mod">
          <ac:chgData name="Rakesh Gopireddy" userId="917bd1301fc7ed03" providerId="LiveId" clId="{007CE2C0-6862-4887-BCBF-6FEB481F3277}" dt="2026-09-03T04:24:31.066" v="518" actId="1076"/>
          <ac:spMkLst>
            <pc:docMk/>
            <pc:sldMk cId="3292521618" sldId="259"/>
            <ac:spMk id="2" creationId="{7DB51984-A4D9-C777-E45D-9C93A8D31F34}"/>
          </ac:spMkLst>
        </pc:spChg>
        <pc:spChg chg="add mod">
          <ac:chgData name="Rakesh Gopireddy" userId="917bd1301fc7ed03" providerId="LiveId" clId="{007CE2C0-6862-4887-BCBF-6FEB481F3277}" dt="2026-09-03T05:37:50.152" v="3539" actId="14100"/>
          <ac:spMkLst>
            <pc:docMk/>
            <pc:sldMk cId="3292521618" sldId="259"/>
            <ac:spMk id="3" creationId="{6C787EB0-BAAF-121D-E4D2-14F22487B35E}"/>
          </ac:spMkLst>
        </pc:spChg>
      </pc:sldChg>
      <pc:sldChg chg="addSp modSp new mod">
        <pc:chgData name="Rakesh Gopireddy" userId="917bd1301fc7ed03" providerId="LiveId" clId="{007CE2C0-6862-4887-BCBF-6FEB481F3277}" dt="2026-09-03T05:38:19.495" v="3545" actId="1076"/>
        <pc:sldMkLst>
          <pc:docMk/>
          <pc:sldMk cId="2461106090" sldId="260"/>
        </pc:sldMkLst>
        <pc:spChg chg="add mod">
          <ac:chgData name="Rakesh Gopireddy" userId="917bd1301fc7ed03" providerId="LiveId" clId="{007CE2C0-6862-4887-BCBF-6FEB481F3277}" dt="2026-09-03T04:43:49.291" v="1564" actId="255"/>
          <ac:spMkLst>
            <pc:docMk/>
            <pc:sldMk cId="2461106090" sldId="260"/>
            <ac:spMk id="2" creationId="{5EEB3FBD-7BAC-E209-6018-0D401D63B239}"/>
          </ac:spMkLst>
        </pc:spChg>
        <pc:spChg chg="add mod">
          <ac:chgData name="Rakesh Gopireddy" userId="917bd1301fc7ed03" providerId="LiveId" clId="{007CE2C0-6862-4887-BCBF-6FEB481F3277}" dt="2026-09-03T05:38:19.495" v="3545" actId="1076"/>
          <ac:spMkLst>
            <pc:docMk/>
            <pc:sldMk cId="2461106090" sldId="260"/>
            <ac:spMk id="3" creationId="{217D0E92-CEC9-DCEF-86AB-A15E19FD2960}"/>
          </ac:spMkLst>
        </pc:spChg>
      </pc:sldChg>
      <pc:sldChg chg="addSp modSp new mod">
        <pc:chgData name="Rakesh Gopireddy" userId="917bd1301fc7ed03" providerId="LiveId" clId="{007CE2C0-6862-4887-BCBF-6FEB481F3277}" dt="2026-09-03T05:38:36.015" v="3548" actId="2711"/>
        <pc:sldMkLst>
          <pc:docMk/>
          <pc:sldMk cId="702668250" sldId="261"/>
        </pc:sldMkLst>
        <pc:spChg chg="add mod">
          <ac:chgData name="Rakesh Gopireddy" userId="917bd1301fc7ed03" providerId="LiveId" clId="{007CE2C0-6862-4887-BCBF-6FEB481F3277}" dt="2026-09-03T05:38:36.015" v="3548" actId="2711"/>
          <ac:spMkLst>
            <pc:docMk/>
            <pc:sldMk cId="702668250" sldId="261"/>
            <ac:spMk id="2" creationId="{6DB9F2D8-0E5B-DDA3-A6D6-B07A19D1A3EB}"/>
          </ac:spMkLst>
        </pc:spChg>
        <pc:picChg chg="add mod">
          <ac:chgData name="Rakesh Gopireddy" userId="917bd1301fc7ed03" providerId="LiveId" clId="{007CE2C0-6862-4887-BCBF-6FEB481F3277}" dt="2026-09-03T05:06:41.561" v="2476" actId="1076"/>
          <ac:picMkLst>
            <pc:docMk/>
            <pc:sldMk cId="702668250" sldId="261"/>
            <ac:picMk id="4" creationId="{7CEDBC6D-89AB-FDF5-15D4-CABEFE6415FB}"/>
          </ac:picMkLst>
        </pc:picChg>
      </pc:sldChg>
      <pc:sldChg chg="addSp modSp new mod">
        <pc:chgData name="Rakesh Gopireddy" userId="917bd1301fc7ed03" providerId="LiveId" clId="{007CE2C0-6862-4887-BCBF-6FEB481F3277}" dt="2026-09-03T05:39:05.269" v="3553" actId="1076"/>
        <pc:sldMkLst>
          <pc:docMk/>
          <pc:sldMk cId="3443455170" sldId="262"/>
        </pc:sldMkLst>
        <pc:spChg chg="add mod">
          <ac:chgData name="Rakesh Gopireddy" userId="917bd1301fc7ed03" providerId="LiveId" clId="{007CE2C0-6862-4887-BCBF-6FEB481F3277}" dt="2026-09-03T05:39:05.269" v="3553" actId="1076"/>
          <ac:spMkLst>
            <pc:docMk/>
            <pc:sldMk cId="3443455170" sldId="262"/>
            <ac:spMk id="4" creationId="{EBAE1BD8-7110-EEB0-52EF-F9E934F0A932}"/>
          </ac:spMkLst>
        </pc:spChg>
        <pc:picChg chg="add mod">
          <ac:chgData name="Rakesh Gopireddy" userId="917bd1301fc7ed03" providerId="LiveId" clId="{007CE2C0-6862-4887-BCBF-6FEB481F3277}" dt="2026-09-03T05:07:46.573" v="2486" actId="14100"/>
          <ac:picMkLst>
            <pc:docMk/>
            <pc:sldMk cId="3443455170" sldId="262"/>
            <ac:picMk id="3" creationId="{6E2DE415-60D1-1D75-5B53-2ED38F61894E}"/>
          </ac:picMkLst>
        </pc:picChg>
      </pc:sldChg>
      <pc:sldChg chg="addSp modSp new mod">
        <pc:chgData name="Rakesh Gopireddy" userId="917bd1301fc7ed03" providerId="LiveId" clId="{007CE2C0-6862-4887-BCBF-6FEB481F3277}" dt="2026-09-03T05:39:14.895" v="3554" actId="2711"/>
        <pc:sldMkLst>
          <pc:docMk/>
          <pc:sldMk cId="3355359745" sldId="263"/>
        </pc:sldMkLst>
        <pc:spChg chg="add mod">
          <ac:chgData name="Rakesh Gopireddy" userId="917bd1301fc7ed03" providerId="LiveId" clId="{007CE2C0-6862-4887-BCBF-6FEB481F3277}" dt="2026-09-03T05:18:07.672" v="2846" actId="255"/>
          <ac:spMkLst>
            <pc:docMk/>
            <pc:sldMk cId="3355359745" sldId="263"/>
            <ac:spMk id="3" creationId="{D6BB4F1B-6EE5-36A1-8B67-5B90CDD33974}"/>
          </ac:spMkLst>
        </pc:spChg>
        <pc:spChg chg="add mod">
          <ac:chgData name="Rakesh Gopireddy" userId="917bd1301fc7ed03" providerId="LiveId" clId="{007CE2C0-6862-4887-BCBF-6FEB481F3277}" dt="2026-09-03T05:39:14.895" v="3554" actId="2711"/>
          <ac:spMkLst>
            <pc:docMk/>
            <pc:sldMk cId="3355359745" sldId="263"/>
            <ac:spMk id="5" creationId="{07F4B3AB-F097-AB06-A5AC-64E3CCC3DEAA}"/>
          </ac:spMkLst>
        </pc:spChg>
        <pc:picChg chg="add mod">
          <ac:chgData name="Rakesh Gopireddy" userId="917bd1301fc7ed03" providerId="LiveId" clId="{007CE2C0-6862-4887-BCBF-6FEB481F3277}" dt="2026-09-03T05:26:33.753" v="3298" actId="1076"/>
          <ac:picMkLst>
            <pc:docMk/>
            <pc:sldMk cId="3355359745" sldId="263"/>
            <ac:picMk id="7" creationId="{96EB7030-61B4-9D68-1A42-908379EAFF11}"/>
          </ac:picMkLst>
        </pc:picChg>
      </pc:sldChg>
      <pc:sldChg chg="addSp modSp new mod">
        <pc:chgData name="Rakesh Gopireddy" userId="917bd1301fc7ed03" providerId="LiveId" clId="{007CE2C0-6862-4887-BCBF-6FEB481F3277}" dt="2026-09-03T05:30:19.653" v="3468" actId="1076"/>
        <pc:sldMkLst>
          <pc:docMk/>
          <pc:sldMk cId="1958378102" sldId="264"/>
        </pc:sldMkLst>
        <pc:spChg chg="add mod">
          <ac:chgData name="Rakesh Gopireddy" userId="917bd1301fc7ed03" providerId="LiveId" clId="{007CE2C0-6862-4887-BCBF-6FEB481F3277}" dt="2026-09-03T05:30:19.653" v="3468" actId="1076"/>
          <ac:spMkLst>
            <pc:docMk/>
            <pc:sldMk cId="1958378102" sldId="264"/>
            <ac:spMk id="3" creationId="{FA2DD2F2-A476-8393-D3B3-D9651665D0F5}"/>
          </ac:spMkLst>
        </pc:spChg>
        <pc:spChg chg="add mod">
          <ac:chgData name="Rakesh Gopireddy" userId="917bd1301fc7ed03" providerId="LiveId" clId="{007CE2C0-6862-4887-BCBF-6FEB481F3277}" dt="2026-09-03T05:30:11.893" v="3467" actId="2711"/>
          <ac:spMkLst>
            <pc:docMk/>
            <pc:sldMk cId="1958378102" sldId="264"/>
            <ac:spMk id="5" creationId="{9483F16B-1D5A-6C7A-C769-87690CF188A8}"/>
          </ac:spMkLst>
        </pc:spChg>
      </pc:sldChg>
      <pc:sldChg chg="addSp modSp new mod">
        <pc:chgData name="Rakesh Gopireddy" userId="917bd1301fc7ed03" providerId="LiveId" clId="{007CE2C0-6862-4887-BCBF-6FEB481F3277}" dt="2026-09-03T05:31:28.893" v="3498" actId="1076"/>
        <pc:sldMkLst>
          <pc:docMk/>
          <pc:sldMk cId="4202266471" sldId="265"/>
        </pc:sldMkLst>
        <pc:spChg chg="add mod">
          <ac:chgData name="Rakesh Gopireddy" userId="917bd1301fc7ed03" providerId="LiveId" clId="{007CE2C0-6862-4887-BCBF-6FEB481F3277}" dt="2026-09-03T05:31:05.949" v="3491" actId="1076"/>
          <ac:spMkLst>
            <pc:docMk/>
            <pc:sldMk cId="4202266471" sldId="265"/>
            <ac:spMk id="2" creationId="{CEB2B71A-C371-E713-1534-758627D3B514}"/>
          </ac:spMkLst>
        </pc:spChg>
        <pc:spChg chg="add mod">
          <ac:chgData name="Rakesh Gopireddy" userId="917bd1301fc7ed03" providerId="LiveId" clId="{007CE2C0-6862-4887-BCBF-6FEB481F3277}" dt="2026-09-03T05:31:28.893" v="3498" actId="1076"/>
          <ac:spMkLst>
            <pc:docMk/>
            <pc:sldMk cId="4202266471" sldId="265"/>
            <ac:spMk id="4" creationId="{2ED1BC7B-E697-3DAE-D3FD-C31E0B1804A8}"/>
          </ac:spMkLst>
        </pc:spChg>
      </pc:sldChg>
      <pc:sldChg chg="addSp modSp new mod">
        <pc:chgData name="Rakesh Gopireddy" userId="917bd1301fc7ed03" providerId="LiveId" clId="{007CE2C0-6862-4887-BCBF-6FEB481F3277}" dt="2026-09-03T05:32:20.986" v="3524" actId="14100"/>
        <pc:sldMkLst>
          <pc:docMk/>
          <pc:sldMk cId="774677306" sldId="266"/>
        </pc:sldMkLst>
        <pc:spChg chg="add mod">
          <ac:chgData name="Rakesh Gopireddy" userId="917bd1301fc7ed03" providerId="LiveId" clId="{007CE2C0-6862-4887-BCBF-6FEB481F3277}" dt="2026-09-03T05:32:20.986" v="3524" actId="14100"/>
          <ac:spMkLst>
            <pc:docMk/>
            <pc:sldMk cId="774677306" sldId="266"/>
            <ac:spMk id="2" creationId="{AF4F20D3-C7F5-E846-8D7D-5765A8F587A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FAE7B9D-0A9F-4058-BF15-903D8D441861}"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4342D-5210-455F-9F96-25C249436412}" type="slidenum">
              <a:rPr lang="en-IN" smtClean="0"/>
              <a:t>‹#›</a:t>
            </a:fld>
            <a:endParaRPr lang="en-IN"/>
          </a:p>
        </p:txBody>
      </p:sp>
    </p:spTree>
    <p:extLst>
      <p:ext uri="{BB962C8B-B14F-4D97-AF65-F5344CB8AC3E}">
        <p14:creationId xmlns:p14="http://schemas.microsoft.com/office/powerpoint/2010/main" val="2378046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FAE7B9D-0A9F-4058-BF15-903D8D441861}"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4342D-5210-455F-9F96-25C249436412}" type="slidenum">
              <a:rPr lang="en-IN" smtClean="0"/>
              <a:t>‹#›</a:t>
            </a:fld>
            <a:endParaRPr lang="en-IN"/>
          </a:p>
        </p:txBody>
      </p:sp>
    </p:spTree>
    <p:extLst>
      <p:ext uri="{BB962C8B-B14F-4D97-AF65-F5344CB8AC3E}">
        <p14:creationId xmlns:p14="http://schemas.microsoft.com/office/powerpoint/2010/main" val="1624747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AE7B9D-0A9F-4058-BF15-903D8D441861}"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4342D-5210-455F-9F96-25C249436412}" type="slidenum">
              <a:rPr lang="en-IN" smtClean="0"/>
              <a:t>‹#›</a:t>
            </a:fld>
            <a:endParaRPr lang="en-IN"/>
          </a:p>
        </p:txBody>
      </p:sp>
    </p:spTree>
    <p:extLst>
      <p:ext uri="{BB962C8B-B14F-4D97-AF65-F5344CB8AC3E}">
        <p14:creationId xmlns:p14="http://schemas.microsoft.com/office/powerpoint/2010/main" val="2120251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AE7B9D-0A9F-4058-BF15-903D8D441861}" type="datetimeFigureOut">
              <a:rPr lang="en-IN" smtClean="0"/>
              <a:t>03-09-2026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A4342D-5210-455F-9F96-25C249436412}" type="slidenum">
              <a:rPr lang="en-IN" smtClean="0"/>
              <a:t>‹#›</a:t>
            </a:fld>
            <a:endParaRPr lang="en-IN"/>
          </a:p>
        </p:txBody>
      </p:sp>
    </p:spTree>
    <p:extLst>
      <p:ext uri="{BB962C8B-B14F-4D97-AF65-F5344CB8AC3E}">
        <p14:creationId xmlns:p14="http://schemas.microsoft.com/office/powerpoint/2010/main" val="216183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AE7B9D-0A9F-4058-BF15-903D8D441861}" type="datetimeFigureOut">
              <a:rPr lang="en-IN" smtClean="0"/>
              <a:t>03-09-2026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8A4342D-5210-455F-9F96-25C249436412}" type="slidenum">
              <a:rPr lang="en-IN" smtClean="0"/>
              <a:t>‹#›</a:t>
            </a:fld>
            <a:endParaRPr lang="en-IN"/>
          </a:p>
        </p:txBody>
      </p:sp>
    </p:spTree>
    <p:extLst>
      <p:ext uri="{BB962C8B-B14F-4D97-AF65-F5344CB8AC3E}">
        <p14:creationId xmlns:p14="http://schemas.microsoft.com/office/powerpoint/2010/main" val="3108261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FAE7B9D-0A9F-4058-BF15-903D8D441861}" type="datetimeFigureOut">
              <a:rPr lang="en-IN" smtClean="0"/>
              <a:t>03-09-2026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38A4342D-5210-455F-9F96-25C249436412}" type="slidenum">
              <a:rPr lang="en-IN" smtClean="0"/>
              <a:t>‹#›</a:t>
            </a:fld>
            <a:endParaRPr lang="en-IN"/>
          </a:p>
        </p:txBody>
      </p:sp>
    </p:spTree>
    <p:extLst>
      <p:ext uri="{BB962C8B-B14F-4D97-AF65-F5344CB8AC3E}">
        <p14:creationId xmlns:p14="http://schemas.microsoft.com/office/powerpoint/2010/main" val="2970871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FAE7B9D-0A9F-4058-BF15-903D8D441861}" type="datetimeFigureOut">
              <a:rPr lang="en-IN" smtClean="0"/>
              <a:t>03-09-2026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38A4342D-5210-455F-9F96-25C249436412}" type="slidenum">
              <a:rPr lang="en-IN" smtClean="0"/>
              <a:t>‹#›</a:t>
            </a:fld>
            <a:endParaRPr lang="en-IN"/>
          </a:p>
        </p:txBody>
      </p:sp>
    </p:spTree>
    <p:extLst>
      <p:ext uri="{BB962C8B-B14F-4D97-AF65-F5344CB8AC3E}">
        <p14:creationId xmlns:p14="http://schemas.microsoft.com/office/powerpoint/2010/main" val="960541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EFAE7B9D-0A9F-4058-BF15-903D8D441861}" type="datetimeFigureOut">
              <a:rPr lang="en-IN" smtClean="0"/>
              <a:t>03-09-2026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38A4342D-5210-455F-9F96-25C249436412}" type="slidenum">
              <a:rPr lang="en-IN" smtClean="0"/>
              <a:t>‹#›</a:t>
            </a:fld>
            <a:endParaRPr lang="en-IN"/>
          </a:p>
        </p:txBody>
      </p:sp>
    </p:spTree>
    <p:extLst>
      <p:ext uri="{BB962C8B-B14F-4D97-AF65-F5344CB8AC3E}">
        <p14:creationId xmlns:p14="http://schemas.microsoft.com/office/powerpoint/2010/main" val="1298787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AE7B9D-0A9F-4058-BF15-903D8D441861}" type="datetimeFigureOut">
              <a:rPr lang="en-IN" smtClean="0"/>
              <a:t>03-09-2026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A4342D-5210-455F-9F96-25C249436412}" type="slidenum">
              <a:rPr lang="en-IN" smtClean="0"/>
              <a:t>‹#›</a:t>
            </a:fld>
            <a:endParaRPr lang="en-IN"/>
          </a:p>
        </p:txBody>
      </p:sp>
    </p:spTree>
    <p:extLst>
      <p:ext uri="{BB962C8B-B14F-4D97-AF65-F5344CB8AC3E}">
        <p14:creationId xmlns:p14="http://schemas.microsoft.com/office/powerpoint/2010/main" val="2731604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AE7B9D-0A9F-4058-BF15-903D8D441861}" type="datetimeFigureOut">
              <a:rPr lang="en-IN" smtClean="0"/>
              <a:t>03-09-2026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A4342D-5210-455F-9F96-25C249436412}" type="slidenum">
              <a:rPr lang="en-IN" smtClean="0"/>
              <a:t>‹#›</a:t>
            </a:fld>
            <a:endParaRPr lang="en-IN"/>
          </a:p>
        </p:txBody>
      </p:sp>
    </p:spTree>
    <p:extLst>
      <p:ext uri="{BB962C8B-B14F-4D97-AF65-F5344CB8AC3E}">
        <p14:creationId xmlns:p14="http://schemas.microsoft.com/office/powerpoint/2010/main" val="4005993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FAE7B9D-0A9F-4058-BF15-903D8D441861}"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4342D-5210-455F-9F96-25C249436412}" type="slidenum">
              <a:rPr lang="en-IN" smtClean="0"/>
              <a:t>‹#›</a:t>
            </a:fld>
            <a:endParaRPr lang="en-IN"/>
          </a:p>
        </p:txBody>
      </p:sp>
    </p:spTree>
    <p:extLst>
      <p:ext uri="{BB962C8B-B14F-4D97-AF65-F5344CB8AC3E}">
        <p14:creationId xmlns:p14="http://schemas.microsoft.com/office/powerpoint/2010/main" val="34117996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FAE7B9D-0A9F-4058-BF15-903D8D441861}"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4342D-5210-455F-9F96-25C249436412}"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2749840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AE7B9D-0A9F-4058-BF15-903D8D441861}"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4342D-5210-455F-9F96-25C249436412}" type="slidenum">
              <a:rPr lang="en-IN" smtClean="0"/>
              <a:t>‹#›</a:t>
            </a:fld>
            <a:endParaRPr lang="en-IN"/>
          </a:p>
        </p:txBody>
      </p:sp>
    </p:spTree>
    <p:extLst>
      <p:ext uri="{BB962C8B-B14F-4D97-AF65-F5344CB8AC3E}">
        <p14:creationId xmlns:p14="http://schemas.microsoft.com/office/powerpoint/2010/main" val="26989158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FAE7B9D-0A9F-4058-BF15-903D8D441861}" type="datetimeFigureOut">
              <a:rPr lang="en-IN" smtClean="0"/>
              <a:t>03-09-2026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4342D-5210-455F-9F96-25C249436412}" type="slidenum">
              <a:rPr lang="en-IN" smtClean="0"/>
              <a:t>‹#›</a:t>
            </a:fld>
            <a:endParaRPr lang="en-IN"/>
          </a:p>
        </p:txBody>
      </p:sp>
    </p:spTree>
    <p:extLst>
      <p:ext uri="{BB962C8B-B14F-4D97-AF65-F5344CB8AC3E}">
        <p14:creationId xmlns:p14="http://schemas.microsoft.com/office/powerpoint/2010/main" val="4288702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FAE7B9D-0A9F-4058-BF15-903D8D441861}" type="datetimeFigureOut">
              <a:rPr lang="en-IN" smtClean="0"/>
              <a:t>03-09-2026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4342D-5210-455F-9F96-25C249436412}" type="slidenum">
              <a:rPr lang="en-IN" smtClean="0"/>
              <a:t>‹#›</a:t>
            </a:fld>
            <a:endParaRPr lang="en-IN"/>
          </a:p>
        </p:txBody>
      </p:sp>
    </p:spTree>
    <p:extLst>
      <p:ext uri="{BB962C8B-B14F-4D97-AF65-F5344CB8AC3E}">
        <p14:creationId xmlns:p14="http://schemas.microsoft.com/office/powerpoint/2010/main" val="7431915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AE7B9D-0A9F-4058-BF15-903D8D441861}"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4342D-5210-455F-9F96-25C249436412}" type="slidenum">
              <a:rPr lang="en-IN" smtClean="0"/>
              <a:t>‹#›</a:t>
            </a:fld>
            <a:endParaRPr lang="en-IN"/>
          </a:p>
        </p:txBody>
      </p:sp>
    </p:spTree>
    <p:extLst>
      <p:ext uri="{BB962C8B-B14F-4D97-AF65-F5344CB8AC3E}">
        <p14:creationId xmlns:p14="http://schemas.microsoft.com/office/powerpoint/2010/main" val="14023630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AE7B9D-0A9F-4058-BF15-903D8D441861}"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4342D-5210-455F-9F96-25C249436412}" type="slidenum">
              <a:rPr lang="en-IN" smtClean="0"/>
              <a:t>‹#›</a:t>
            </a:fld>
            <a:endParaRPr lang="en-IN"/>
          </a:p>
        </p:txBody>
      </p:sp>
    </p:spTree>
    <p:extLst>
      <p:ext uri="{BB962C8B-B14F-4D97-AF65-F5344CB8AC3E}">
        <p14:creationId xmlns:p14="http://schemas.microsoft.com/office/powerpoint/2010/main" val="3422640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FAE7B9D-0A9F-4058-BF15-903D8D441861}" type="datetimeFigureOut">
              <a:rPr lang="en-IN" smtClean="0"/>
              <a:t>03-09-2026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8A4342D-5210-455F-9F96-25C249436412}" type="slidenum">
              <a:rPr lang="en-IN" smtClean="0"/>
              <a:t>‹#›</a:t>
            </a:fld>
            <a:endParaRPr lang="en-IN"/>
          </a:p>
        </p:txBody>
      </p:sp>
    </p:spTree>
    <p:extLst>
      <p:ext uri="{BB962C8B-B14F-4D97-AF65-F5344CB8AC3E}">
        <p14:creationId xmlns:p14="http://schemas.microsoft.com/office/powerpoint/2010/main" val="1126408676"/>
      </p:ext>
    </p:extLst>
  </p:cSld>
  <p:clrMap bg1="dk1" tx1="lt1" bg2="dk2" tx2="lt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29" r:id="rId11"/>
    <p:sldLayoutId id="2147483830" r:id="rId12"/>
    <p:sldLayoutId id="2147483831" r:id="rId13"/>
    <p:sldLayoutId id="2147483832" r:id="rId14"/>
    <p:sldLayoutId id="2147483833" r:id="rId15"/>
    <p:sldLayoutId id="2147483834" r:id="rId16"/>
    <p:sldLayoutId id="214748383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663AFE-B8FE-3D7E-D36E-6C626819D103}"/>
              </a:ext>
            </a:extLst>
          </p:cNvPr>
          <p:cNvSpPr txBox="1"/>
          <p:nvPr/>
        </p:nvSpPr>
        <p:spPr>
          <a:xfrm>
            <a:off x="1897625" y="2703872"/>
            <a:ext cx="8554065" cy="954107"/>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Title:</a:t>
            </a:r>
          </a:p>
          <a:p>
            <a:pPr algn="ctr"/>
            <a:r>
              <a:rPr lang="en-IN" sz="2800" b="1" dirty="0">
                <a:latin typeface="Times New Roman" panose="02020603050405020304" pitchFamily="18" charset="0"/>
                <a:cs typeface="Times New Roman" panose="02020603050405020304" pitchFamily="18" charset="0"/>
              </a:rPr>
              <a:t>Customer Segmentation and Prediction  using Python</a:t>
            </a:r>
          </a:p>
        </p:txBody>
      </p:sp>
      <p:sp>
        <p:nvSpPr>
          <p:cNvPr id="3" name="TextBox 2">
            <a:extLst>
              <a:ext uri="{FF2B5EF4-FFF2-40B4-BE49-F238E27FC236}">
                <a16:creationId xmlns:a16="http://schemas.microsoft.com/office/drawing/2014/main" id="{7B95E439-0859-4E39-4615-7B602292356B}"/>
              </a:ext>
            </a:extLst>
          </p:cNvPr>
          <p:cNvSpPr txBox="1"/>
          <p:nvPr/>
        </p:nvSpPr>
        <p:spPr>
          <a:xfrm>
            <a:off x="7708490" y="5338916"/>
            <a:ext cx="3628104" cy="707886"/>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Design By:</a:t>
            </a:r>
          </a:p>
          <a:p>
            <a:pPr algn="ctr"/>
            <a:r>
              <a:rPr lang="en-IN" sz="2000" b="1" dirty="0">
                <a:latin typeface="Times New Roman" panose="02020603050405020304" pitchFamily="18" charset="0"/>
                <a:cs typeface="Times New Roman" panose="02020603050405020304" pitchFamily="18" charset="0"/>
              </a:rPr>
              <a:t>Rakesh Reddy Gopireddy</a:t>
            </a:r>
          </a:p>
        </p:txBody>
      </p:sp>
    </p:spTree>
    <p:extLst>
      <p:ext uri="{BB962C8B-B14F-4D97-AF65-F5344CB8AC3E}">
        <p14:creationId xmlns:p14="http://schemas.microsoft.com/office/powerpoint/2010/main" val="3101716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2524E7-19F6-0AB6-EBD5-C41484ABC2A1}"/>
              </a:ext>
            </a:extLst>
          </p:cNvPr>
          <p:cNvSpPr txBox="1"/>
          <p:nvPr/>
        </p:nvSpPr>
        <p:spPr>
          <a:xfrm>
            <a:off x="226142" y="235974"/>
            <a:ext cx="8849032"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id="{5AF49658-5481-BBD0-BC37-6289428FA5E0}"/>
              </a:ext>
            </a:extLst>
          </p:cNvPr>
          <p:cNvSpPr txBox="1"/>
          <p:nvPr/>
        </p:nvSpPr>
        <p:spPr>
          <a:xfrm>
            <a:off x="1101212" y="1248698"/>
            <a:ext cx="9517627" cy="4370427"/>
          </a:xfrm>
          <a:prstGeom prst="rect">
            <a:avLst/>
          </a:prstGeom>
          <a:noFill/>
        </p:spPr>
        <p:txBody>
          <a:bodyPr wrap="square" rtlCol="0">
            <a:spAutoFit/>
          </a:bodyPr>
          <a:lstStyle/>
          <a:p>
            <a:pPr marL="342900" indent="-342900">
              <a:buFont typeface="Arial" panose="020B0604020202090204" pitchFamily="34" charset="0"/>
              <a:buChar char="•"/>
            </a:pPr>
            <a:r>
              <a:rPr lang="en-IN" sz="2000" dirty="0">
                <a:latin typeface="Times New Roman" panose="02020603050405020304" pitchFamily="18" charset="0"/>
                <a:cs typeface="Times New Roman" panose="02020603050405020304" pitchFamily="18" charset="0"/>
              </a:rPr>
              <a:t>In this Project I used Customer segmentation and prediction dataset  for analyse customer Cluster and problems I set to solve is Analyse customer transactions to identify:</a:t>
            </a:r>
          </a:p>
          <a:p>
            <a:pPr lvl="0"/>
            <a:r>
              <a:rPr lang="en-IN" sz="2000" dirty="0">
                <a:latin typeface="Times New Roman" panose="02020603050405020304" pitchFamily="18" charset="0"/>
                <a:cs typeface="Times New Roman" panose="02020603050405020304" pitchFamily="18" charset="0"/>
              </a:rPr>
              <a:t>              Purchase behaviour patterns (frequency, spending, types of products purchased).</a:t>
            </a:r>
          </a:p>
          <a:p>
            <a:pPr lvl="0"/>
            <a:r>
              <a:rPr lang="en-IN" sz="2000" dirty="0">
                <a:latin typeface="Times New Roman" panose="02020603050405020304" pitchFamily="18" charset="0"/>
                <a:cs typeface="Times New Roman" panose="02020603050405020304" pitchFamily="18" charset="0"/>
              </a:rPr>
              <a:t>              Customer lifetime value and segmentation.</a:t>
            </a:r>
          </a:p>
          <a:p>
            <a:pPr lvl="0"/>
            <a:r>
              <a:rPr lang="en-IN" sz="2000" dirty="0">
                <a:latin typeface="Times New Roman" panose="02020603050405020304" pitchFamily="18" charset="0"/>
                <a:cs typeface="Times New Roman" panose="02020603050405020304" pitchFamily="18" charset="0"/>
              </a:rPr>
              <a:t>              Correlations between purchase behaviour and demographic factors.</a:t>
            </a:r>
          </a:p>
          <a:p>
            <a:pPr marL="342900" indent="-342900">
              <a:buFont typeface="Arial" panose="020B0604020202090204" pitchFamily="34" charset="0"/>
              <a:buChar char="•"/>
            </a:pP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90204" pitchFamily="34" charset="0"/>
              <a:buChar char="•"/>
            </a:pPr>
            <a:r>
              <a:rPr lang="en-IN" sz="2000" dirty="0">
                <a:latin typeface="Times New Roman" panose="02020603050405020304" pitchFamily="18" charset="0"/>
                <a:cs typeface="Times New Roman" panose="02020603050405020304" pitchFamily="18" charset="0"/>
              </a:rPr>
              <a:t>Why Analysis is important means  from analysis  we can find the solutions for problem that means  for create a visualization of raw data we can achieve  in which area sales are increases or decreases,  and we find which  product is more sales  and we top performing  customer.  Like this type of question we analyse for using Analysis. </a:t>
            </a:r>
          </a:p>
          <a:p>
            <a:endParaRPr lang="en-IN" dirty="0"/>
          </a:p>
        </p:txBody>
      </p:sp>
    </p:spTree>
    <p:extLst>
      <p:ext uri="{BB962C8B-B14F-4D97-AF65-F5344CB8AC3E}">
        <p14:creationId xmlns:p14="http://schemas.microsoft.com/office/powerpoint/2010/main" val="29130297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B51984-A4D9-C777-E45D-9C93A8D31F34}"/>
              </a:ext>
            </a:extLst>
          </p:cNvPr>
          <p:cNvSpPr txBox="1"/>
          <p:nvPr/>
        </p:nvSpPr>
        <p:spPr>
          <a:xfrm>
            <a:off x="206477" y="314631"/>
            <a:ext cx="7157884"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Data Processing And Cleaning</a:t>
            </a:r>
          </a:p>
        </p:txBody>
      </p:sp>
      <p:sp>
        <p:nvSpPr>
          <p:cNvPr id="3" name="TextBox 2">
            <a:extLst>
              <a:ext uri="{FF2B5EF4-FFF2-40B4-BE49-F238E27FC236}">
                <a16:creationId xmlns:a16="http://schemas.microsoft.com/office/drawing/2014/main" id="{6C787EB0-BAAF-121D-E4D2-14F22487B35E}"/>
              </a:ext>
            </a:extLst>
          </p:cNvPr>
          <p:cNvSpPr txBox="1"/>
          <p:nvPr/>
        </p:nvSpPr>
        <p:spPr>
          <a:xfrm>
            <a:off x="1032387" y="993058"/>
            <a:ext cx="9586451" cy="5632311"/>
          </a:xfrm>
          <a:prstGeom prst="rect">
            <a:avLst/>
          </a:prstGeom>
          <a:noFill/>
        </p:spPr>
        <p:txBody>
          <a:bodyPr wrap="square" rtlCol="0">
            <a:spAutoFit/>
          </a:bodyPr>
          <a:lstStyle/>
          <a:p>
            <a:pPr marL="285750" indent="-285750">
              <a:buFont typeface="Arial" panose="020B0604020202090204" pitchFamily="34" charset="0"/>
              <a:buChar char="•"/>
            </a:pPr>
            <a:r>
              <a:rPr lang="en-IN" sz="2000" dirty="0">
                <a:latin typeface="Times New Roman" panose="02020603050405020304" pitchFamily="18" charset="0"/>
                <a:cs typeface="Times New Roman" panose="02020603050405020304" pitchFamily="18" charset="0"/>
              </a:rPr>
              <a:t>I get This data from the google for reference of this project.</a:t>
            </a:r>
          </a:p>
          <a:p>
            <a:pPr marL="285750" indent="-285750">
              <a:buFont typeface="Arial" panose="020B060402020209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90204" pitchFamily="34" charset="0"/>
              <a:buChar char="•"/>
            </a:pPr>
            <a:r>
              <a:rPr lang="en-IN" sz="2000" dirty="0">
                <a:latin typeface="Times New Roman" panose="02020603050405020304" pitchFamily="18" charset="0"/>
                <a:cs typeface="Times New Roman" panose="02020603050405020304" pitchFamily="18" charset="0"/>
              </a:rPr>
              <a:t>After  I import Data From the raw data, and I get  first info of the that data  For how many rows and columns I used  from this data.</a:t>
            </a:r>
          </a:p>
          <a:p>
            <a:r>
              <a:rPr lang="en-IN" sz="2000" dirty="0">
                <a:latin typeface="Times New Roman" panose="02020603050405020304" pitchFamily="18" charset="0"/>
                <a:cs typeface="Times New Roman" panose="02020603050405020304" pitchFamily="18" charset="0"/>
              </a:rPr>
              <a:t>           for that I  used </a:t>
            </a:r>
            <a:r>
              <a:rPr lang="en-IN" sz="2000" b="1" dirty="0">
                <a:latin typeface="Times New Roman" panose="02020603050405020304" pitchFamily="18" charset="0"/>
                <a:cs typeface="Times New Roman" panose="02020603050405020304" pitchFamily="18" charset="0"/>
              </a:rPr>
              <a:t>info() </a:t>
            </a:r>
            <a:r>
              <a:rPr lang="en-IN" sz="2000" dirty="0">
                <a:latin typeface="Times New Roman" panose="02020603050405020304" pitchFamily="18" charset="0"/>
                <a:cs typeface="Times New Roman" panose="02020603050405020304" pitchFamily="18" charset="0"/>
              </a:rPr>
              <a:t>method.</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90204" pitchFamily="34" charset="0"/>
              <a:buChar char="•"/>
            </a:pPr>
            <a:r>
              <a:rPr lang="en-IN" sz="2000" dirty="0">
                <a:latin typeface="Times New Roman" panose="02020603050405020304" pitchFamily="18" charset="0"/>
                <a:cs typeface="Times New Roman" panose="02020603050405020304" pitchFamily="18" charset="0"/>
              </a:rPr>
              <a:t>Now Data cleaning process In this I handled missing data and remove duplicates in this process I faced a challenge in that remove duplicates in that stage.</a:t>
            </a:r>
          </a:p>
          <a:p>
            <a:pPr marL="285750" indent="-285750">
              <a:buFont typeface="Arial" panose="020B060402020209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90204" pitchFamily="34" charset="0"/>
              <a:buChar char="•"/>
            </a:pPr>
            <a:r>
              <a:rPr lang="en-IN" sz="2000" dirty="0">
                <a:latin typeface="Times New Roman" panose="02020603050405020304" pitchFamily="18" charset="0"/>
                <a:cs typeface="Times New Roman" panose="02020603050405020304" pitchFamily="18" charset="0"/>
              </a:rPr>
              <a:t>How I want remove duplicates in rows or columns, but when I write a code it’s not working after I get columns names and description after one small correction I clear the error.  </a:t>
            </a:r>
          </a:p>
          <a:p>
            <a:pPr marL="285750" indent="-285750">
              <a:buFont typeface="Arial" panose="020B060402020209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90204" pitchFamily="34" charset="0"/>
              <a:buChar char="•"/>
            </a:pPr>
            <a:r>
              <a:rPr lang="en-IN" sz="2000" dirty="0">
                <a:latin typeface="Times New Roman" panose="02020603050405020304" pitchFamily="18" charset="0"/>
                <a:cs typeface="Times New Roman" panose="02020603050405020304" pitchFamily="18" charset="0"/>
              </a:rPr>
              <a:t>Before removing missing values and duplicates  first I get null values how many have in each column,  for  that I used </a:t>
            </a:r>
            <a:r>
              <a:rPr lang="en-IN" sz="2000" b="1" dirty="0" err="1">
                <a:latin typeface="Times New Roman" panose="02020603050405020304" pitchFamily="18" charset="0"/>
                <a:cs typeface="Times New Roman" panose="02020603050405020304" pitchFamily="18" charset="0"/>
              </a:rPr>
              <a:t>isnull</a:t>
            </a: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method.</a:t>
            </a:r>
          </a:p>
          <a:p>
            <a:pPr marL="285750" indent="-285750">
              <a:buFont typeface="Arial" panose="020B0604020202090204" pitchFamily="34" charset="0"/>
              <a:buChar char="•"/>
            </a:pPr>
            <a:r>
              <a:rPr lang="en-IN" sz="2000" dirty="0">
                <a:latin typeface="Times New Roman" panose="02020603050405020304" pitchFamily="18" charset="0"/>
                <a:cs typeface="Times New Roman" panose="02020603050405020304" pitchFamily="18" charset="0"/>
              </a:rPr>
              <a:t>And  for missing values and duplicates I used </a:t>
            </a:r>
            <a:r>
              <a:rPr lang="en-IN" sz="2000" b="1" dirty="0">
                <a:latin typeface="Times New Roman" panose="02020603050405020304" pitchFamily="18" charset="0"/>
                <a:cs typeface="Times New Roman" panose="02020603050405020304" pitchFamily="18" charset="0"/>
              </a:rPr>
              <a:t>drop() </a:t>
            </a:r>
            <a:r>
              <a:rPr lang="en-IN" sz="2000" dirty="0">
                <a:latin typeface="Times New Roman" panose="02020603050405020304" pitchFamily="18" charset="0"/>
                <a:cs typeface="Times New Roman" panose="02020603050405020304" pitchFamily="18" charset="0"/>
              </a:rPr>
              <a:t>method and </a:t>
            </a:r>
            <a:r>
              <a:rPr lang="en-IN" sz="2000" b="1" dirty="0" err="1">
                <a:latin typeface="Times New Roman" panose="02020603050405020304" pitchFamily="18" charset="0"/>
                <a:cs typeface="Times New Roman" panose="02020603050405020304" pitchFamily="18" charset="0"/>
              </a:rPr>
              <a:t>drop_duplicates</a:t>
            </a: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method</a:t>
            </a:r>
          </a:p>
        </p:txBody>
      </p:sp>
    </p:spTree>
    <p:extLst>
      <p:ext uri="{BB962C8B-B14F-4D97-AF65-F5344CB8AC3E}">
        <p14:creationId xmlns:p14="http://schemas.microsoft.com/office/powerpoint/2010/main" val="3292521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EB3FBD-7BAC-E209-6018-0D401D63B239}"/>
              </a:ext>
            </a:extLst>
          </p:cNvPr>
          <p:cNvSpPr txBox="1"/>
          <p:nvPr/>
        </p:nvSpPr>
        <p:spPr>
          <a:xfrm>
            <a:off x="172065" y="176982"/>
            <a:ext cx="10805652"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Analysis Method</a:t>
            </a:r>
          </a:p>
        </p:txBody>
      </p:sp>
      <p:sp>
        <p:nvSpPr>
          <p:cNvPr id="3" name="TextBox 2">
            <a:extLst>
              <a:ext uri="{FF2B5EF4-FFF2-40B4-BE49-F238E27FC236}">
                <a16:creationId xmlns:a16="http://schemas.microsoft.com/office/drawing/2014/main" id="{217D0E92-CEC9-DCEF-86AB-A15E19FD2960}"/>
              </a:ext>
            </a:extLst>
          </p:cNvPr>
          <p:cNvSpPr txBox="1"/>
          <p:nvPr/>
        </p:nvSpPr>
        <p:spPr>
          <a:xfrm>
            <a:off x="644013" y="577092"/>
            <a:ext cx="10903974" cy="6247864"/>
          </a:xfrm>
          <a:prstGeom prst="rect">
            <a:avLst/>
          </a:prstGeom>
          <a:noFill/>
        </p:spPr>
        <p:txBody>
          <a:bodyPr wrap="square" rtlCol="0">
            <a:spAutoFit/>
          </a:bodyPr>
          <a:lstStyle/>
          <a:p>
            <a:pPr marL="285750" indent="-285750">
              <a:buFont typeface="Arial" panose="020B0604020202090204" pitchFamily="34" charset="0"/>
              <a:buChar char="•"/>
            </a:pPr>
            <a:r>
              <a:rPr lang="en-IN" sz="2000" dirty="0">
                <a:latin typeface="Times New Roman" panose="02020603050405020304" pitchFamily="18" charset="0"/>
                <a:cs typeface="Times New Roman" panose="02020603050405020304" pitchFamily="18" charset="0"/>
              </a:rPr>
              <a:t>In this step I used Python programming for analysis.</a:t>
            </a:r>
          </a:p>
          <a:p>
            <a:pPr marL="285750" indent="-285750">
              <a:buFont typeface="Arial" panose="020B060402020209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90204" pitchFamily="34" charset="0"/>
              <a:buChar char="•"/>
            </a:pPr>
            <a:r>
              <a:rPr lang="en-IN" sz="2000" dirty="0">
                <a:latin typeface="Times New Roman" panose="02020603050405020304" pitchFamily="18" charset="0"/>
                <a:cs typeface="Times New Roman" panose="02020603050405020304" pitchFamily="18" charset="0"/>
              </a:rPr>
              <a:t>In this I used pandas for reading data and It gives you Data Frame and Series objects to clean, filter, and analyse datasets.</a:t>
            </a:r>
          </a:p>
          <a:p>
            <a:pPr marL="285750" indent="-285750">
              <a:buFont typeface="Arial" panose="020B060402020209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90204" pitchFamily="34" charset="0"/>
              <a:buChar char="•"/>
            </a:pPr>
            <a:r>
              <a:rPr lang="en-IN" sz="2000" dirty="0">
                <a:latin typeface="Times New Roman" panose="02020603050405020304" pitchFamily="18" charset="0"/>
                <a:cs typeface="Times New Roman" panose="02020603050405020304" pitchFamily="18" charset="0"/>
              </a:rPr>
              <a:t>I used matplotlib and seaborn for analysis with visualization of graphs from this graphs we can clear solve problems.</a:t>
            </a:r>
          </a:p>
          <a:p>
            <a:pPr marL="285750" indent="-285750">
              <a:buFont typeface="Arial" panose="020B060402020209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90204" pitchFamily="34" charset="0"/>
              <a:buChar char="•"/>
            </a:pPr>
            <a:r>
              <a:rPr lang="en-IN" sz="2000" dirty="0">
                <a:latin typeface="Times New Roman" panose="02020603050405020304" pitchFamily="18" charset="0"/>
                <a:cs typeface="Times New Roman" panose="02020603050405020304" pitchFamily="18" charset="0"/>
              </a:rPr>
              <a:t>For Machine Learning:</a:t>
            </a:r>
          </a:p>
          <a:p>
            <a:pPr marL="285750" lvl="0" indent="-285750">
              <a:buFont typeface="Arial" panose="020B0604020202090204" pitchFamily="34" charset="0"/>
              <a:buChar char="•"/>
            </a:pPr>
            <a:r>
              <a:rPr lang="en-IN" sz="2000" dirty="0">
                <a:latin typeface="Times New Roman" panose="02020603050405020304" pitchFamily="18" charset="0"/>
                <a:cs typeface="Times New Roman" panose="02020603050405020304" pitchFamily="18" charset="0"/>
              </a:rPr>
              <a:t>Label Encoder </a:t>
            </a:r>
            <a:r>
              <a:rPr lang="en-IN" sz="2000" dirty="0">
                <a:effectLst/>
                <a:latin typeface="Times New Roman" panose="02020603050405020304" pitchFamily="18" charset="0"/>
                <a:cs typeface="Times New Roman" panose="02020603050405020304" pitchFamily="18" charset="0"/>
              </a:rPr>
              <a:t>Converts categorical labels (like “Male”, “Female”) into numeric codes (0, 1). Useful when models can’t handle text directly.</a:t>
            </a:r>
            <a:endParaRPr lang="en-IN" sz="2000" dirty="0">
              <a:latin typeface="Times New Roman" panose="02020603050405020304" pitchFamily="18" charset="0"/>
              <a:cs typeface="Times New Roman" panose="02020603050405020304" pitchFamily="18" charset="0"/>
            </a:endParaRPr>
          </a:p>
          <a:p>
            <a:pPr marL="285750" lvl="0" indent="-285750">
              <a:buFont typeface="Arial" panose="020B0604020202090204" pitchFamily="34" charset="0"/>
              <a:buChar char="•"/>
            </a:pPr>
            <a:r>
              <a:rPr lang="en-IN" sz="2000" dirty="0" err="1">
                <a:latin typeface="Times New Roman" panose="02020603050405020304" pitchFamily="18" charset="0"/>
                <a:cs typeface="Times New Roman" panose="02020603050405020304" pitchFamily="18" charset="0"/>
              </a:rPr>
              <a:t>StandardScaler</a:t>
            </a:r>
            <a:r>
              <a:rPr lang="en-IN" sz="2000" dirty="0">
                <a:effectLst/>
                <a:latin typeface="Times New Roman" panose="02020603050405020304" pitchFamily="18" charset="0"/>
                <a:cs typeface="Times New Roman" panose="02020603050405020304" pitchFamily="18" charset="0"/>
              </a:rPr>
              <a:t>  Standardizes numerical features (mean = 0, variance = 1). This ensures all features are on the same scale, which is critical for algorithms like logistic regression, SVM, and neural networks.</a:t>
            </a:r>
          </a:p>
          <a:p>
            <a:pPr marL="285750" lvl="0" indent="-285750">
              <a:buFont typeface="Arial" panose="020B060402020209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90204" pitchFamily="34" charset="0"/>
              <a:buChar char="•"/>
            </a:pPr>
            <a:r>
              <a:rPr lang="en-IN" sz="2000" dirty="0">
                <a:latin typeface="Times New Roman" panose="02020603050405020304" pitchFamily="18" charset="0"/>
                <a:cs typeface="Times New Roman" panose="02020603050405020304" pitchFamily="18" charset="0"/>
              </a:rPr>
              <a:t>Splitting Data</a:t>
            </a:r>
          </a:p>
          <a:p>
            <a:pPr marL="285750" lvl="0" indent="-285750">
              <a:buFont typeface="Arial" panose="020B0604020202090204" pitchFamily="34" charset="0"/>
              <a:buChar char="•"/>
            </a:pPr>
            <a:r>
              <a:rPr lang="en-IN" sz="2000" dirty="0" err="1">
                <a:latin typeface="Times New Roman" panose="02020603050405020304" pitchFamily="18" charset="0"/>
                <a:cs typeface="Times New Roman" panose="02020603050405020304" pitchFamily="18" charset="0"/>
              </a:rPr>
              <a:t>train_test_split</a:t>
            </a:r>
            <a:r>
              <a:rPr lang="en-IN" sz="2000" dirty="0">
                <a:effectLst/>
                <a:latin typeface="Times New Roman" panose="02020603050405020304" pitchFamily="18" charset="0"/>
                <a:cs typeface="Times New Roman" panose="02020603050405020304" pitchFamily="18" charset="0"/>
              </a:rPr>
              <a:t> → Splits your dataset into training and testing sets. Training data is used to fit the model, and testing data is used to evaluate performance.</a:t>
            </a:r>
          </a:p>
          <a:p>
            <a:pPr marL="285750" lvl="0" indent="-285750">
              <a:buFont typeface="Arial" panose="020B0604020202090204" pitchFamily="34" charset="0"/>
              <a:buChar char="•"/>
            </a:pPr>
            <a:endParaRPr lang="en-IN" sz="2000" dirty="0">
              <a:latin typeface="Times New Roman" panose="02020603050405020304" pitchFamily="18" charset="0"/>
              <a:cs typeface="Times New Roman" panose="02020603050405020304" pitchFamily="18" charset="0"/>
            </a:endParaRPr>
          </a:p>
          <a:p>
            <a:pPr marL="285750" lvl="0" indent="-285750">
              <a:buFont typeface="Arial" panose="020B0604020202090204" pitchFamily="34" charset="0"/>
              <a:buChar char="•"/>
            </a:pPr>
            <a:r>
              <a:rPr lang="en-IN" sz="2000" dirty="0">
                <a:latin typeface="Times New Roman" panose="02020603050405020304" pitchFamily="18" charset="0"/>
                <a:cs typeface="Times New Roman" panose="02020603050405020304" pitchFamily="18" charset="0"/>
              </a:rPr>
              <a:t>K-Means clustering  Unsupervised learning No labels are required; the algorithm finds patterns on its own. Groups similar data points together based on feature similarity</a:t>
            </a:r>
          </a:p>
        </p:txBody>
      </p:sp>
    </p:spTree>
    <p:extLst>
      <p:ext uri="{BB962C8B-B14F-4D97-AF65-F5344CB8AC3E}">
        <p14:creationId xmlns:p14="http://schemas.microsoft.com/office/powerpoint/2010/main" val="2461106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B9F2D8-0E5B-DDA3-A6D6-B07A19D1A3EB}"/>
              </a:ext>
            </a:extLst>
          </p:cNvPr>
          <p:cNvSpPr txBox="1"/>
          <p:nvPr/>
        </p:nvSpPr>
        <p:spPr>
          <a:xfrm>
            <a:off x="373626" y="540773"/>
            <a:ext cx="8967019" cy="2031325"/>
          </a:xfrm>
          <a:prstGeom prst="rect">
            <a:avLst/>
          </a:prstGeom>
          <a:noFill/>
        </p:spPr>
        <p:txBody>
          <a:bodyPr wrap="square" rtlCol="0">
            <a:spAutoFit/>
          </a:bodyPr>
          <a:lstStyle/>
          <a:p>
            <a:pPr marL="285750" indent="-285750">
              <a:buFont typeface="Arial" panose="020B0604020202090204" pitchFamily="34" charset="0"/>
              <a:buChar char="•"/>
            </a:pPr>
            <a:r>
              <a:rPr lang="en-IN" dirty="0">
                <a:latin typeface="Times New Roman" panose="02020603050405020304" pitchFamily="18" charset="0"/>
                <a:cs typeface="Times New Roman" panose="02020603050405020304" pitchFamily="18" charset="0"/>
              </a:rPr>
              <a:t>For K-Means Cluster  I used Elbow Method for used to  optimal number of clusters in K-Means by plotting WCSS against the number of  clusters and selecting where the curve forms an elbow.</a:t>
            </a:r>
          </a:p>
          <a:p>
            <a:pPr marL="285750" indent="-285750">
              <a:buFont typeface="Arial" panose="020B060402020209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9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90204" pitchFamily="34" charset="0"/>
              <a:buChar char="•"/>
            </a:pPr>
            <a:r>
              <a:rPr lang="en-IN" dirty="0">
                <a:latin typeface="Times New Roman" panose="02020603050405020304" pitchFamily="18" charset="0"/>
                <a:cs typeface="Times New Roman" panose="02020603050405020304" pitchFamily="18" charset="0"/>
              </a:rPr>
              <a:t>From import libraries of above tool I analyse that data of customer of each cluster and  high and medium monthly spending, And correlation and Predictive Modelling vs actual spend.</a:t>
            </a:r>
          </a:p>
        </p:txBody>
      </p:sp>
      <p:pic>
        <p:nvPicPr>
          <p:cNvPr id="4" name="Picture 3">
            <a:extLst>
              <a:ext uri="{FF2B5EF4-FFF2-40B4-BE49-F238E27FC236}">
                <a16:creationId xmlns:a16="http://schemas.microsoft.com/office/drawing/2014/main" id="{7CEDBC6D-89AB-FDF5-15D4-CABEFE6415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5289" y="2750774"/>
            <a:ext cx="6440129" cy="3898289"/>
          </a:xfrm>
          <a:prstGeom prst="rect">
            <a:avLst/>
          </a:prstGeom>
        </p:spPr>
      </p:pic>
    </p:spTree>
    <p:extLst>
      <p:ext uri="{BB962C8B-B14F-4D97-AF65-F5344CB8AC3E}">
        <p14:creationId xmlns:p14="http://schemas.microsoft.com/office/powerpoint/2010/main" val="702668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2DE415-60D1-1D75-5B53-2ED38F6189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142" y="0"/>
            <a:ext cx="6440136" cy="4025085"/>
          </a:xfrm>
          <a:prstGeom prst="rect">
            <a:avLst/>
          </a:prstGeom>
        </p:spPr>
      </p:pic>
      <p:sp>
        <p:nvSpPr>
          <p:cNvPr id="4" name="TextBox 3">
            <a:extLst>
              <a:ext uri="{FF2B5EF4-FFF2-40B4-BE49-F238E27FC236}">
                <a16:creationId xmlns:a16="http://schemas.microsoft.com/office/drawing/2014/main" id="{EBAE1BD8-7110-EEB0-52EF-F9E934F0A932}"/>
              </a:ext>
            </a:extLst>
          </p:cNvPr>
          <p:cNvSpPr txBox="1"/>
          <p:nvPr/>
        </p:nvSpPr>
        <p:spPr>
          <a:xfrm>
            <a:off x="3038168" y="4129548"/>
            <a:ext cx="8303338" cy="2554545"/>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From this Graph  which cluster spend more in monthly Cluster 1 Highest median spending, Many high-spending outliers (up to 3000+), Largest spending variation</a:t>
            </a:r>
          </a:p>
          <a:p>
            <a:r>
              <a:rPr lang="en-IN" sz="2000" dirty="0">
                <a:latin typeface="Times New Roman" panose="02020603050405020304" pitchFamily="18" charset="0"/>
                <a:cs typeface="Times New Roman" panose="02020603050405020304" pitchFamily="18" charset="0"/>
              </a:rPr>
              <a:t>Cluster 0 is medium spender and cluster 2 also lower medium spender with compared to cluster0.  cluster 3 lowest spender in monthly.</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This graph helps analyse purchase behaviour patterns because it shows how much customers in each cluster spend.</a:t>
            </a:r>
          </a:p>
        </p:txBody>
      </p:sp>
    </p:spTree>
    <p:extLst>
      <p:ext uri="{BB962C8B-B14F-4D97-AF65-F5344CB8AC3E}">
        <p14:creationId xmlns:p14="http://schemas.microsoft.com/office/powerpoint/2010/main" val="3443455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BB4F1B-6EE5-36A1-8B67-5B90CDD33974}"/>
              </a:ext>
            </a:extLst>
          </p:cNvPr>
          <p:cNvSpPr txBox="1"/>
          <p:nvPr/>
        </p:nvSpPr>
        <p:spPr>
          <a:xfrm>
            <a:off x="216310" y="218457"/>
            <a:ext cx="6096000" cy="400110"/>
          </a:xfrm>
          <a:prstGeom prst="rect">
            <a:avLst/>
          </a:prstGeom>
          <a:noFill/>
        </p:spPr>
        <p:txBody>
          <a:bodyPr wrap="square">
            <a:spAutoFit/>
          </a:bodyPr>
          <a:lstStyle/>
          <a:p>
            <a:r>
              <a:rPr lang="en-IN" sz="2000" b="1" dirty="0"/>
              <a:t>Key Insights</a:t>
            </a:r>
          </a:p>
        </p:txBody>
      </p:sp>
      <p:sp>
        <p:nvSpPr>
          <p:cNvPr id="5" name="TextBox 4">
            <a:extLst>
              <a:ext uri="{FF2B5EF4-FFF2-40B4-BE49-F238E27FC236}">
                <a16:creationId xmlns:a16="http://schemas.microsoft.com/office/drawing/2014/main" id="{07F4B3AB-F097-AB06-A5AC-64E3CCC3DEAA}"/>
              </a:ext>
            </a:extLst>
          </p:cNvPr>
          <p:cNvSpPr txBox="1"/>
          <p:nvPr/>
        </p:nvSpPr>
        <p:spPr>
          <a:xfrm>
            <a:off x="216309" y="693057"/>
            <a:ext cx="5673213" cy="5940088"/>
          </a:xfrm>
          <a:prstGeom prst="rect">
            <a:avLst/>
          </a:prstGeom>
          <a:noFill/>
        </p:spPr>
        <p:txBody>
          <a:bodyPr wrap="square">
            <a:spAutoFit/>
          </a:bodyPr>
          <a:lstStyle/>
          <a:p>
            <a:pPr marL="342900" indent="-342900" algn="just">
              <a:buFont typeface="Arial" panose="020B0604020202090204" pitchFamily="34" charset="0"/>
              <a:buChar char="•"/>
            </a:pPr>
            <a:r>
              <a:rPr lang="en-IN" sz="2000" dirty="0">
                <a:latin typeface="Times New Roman" panose="02020603050405020304" pitchFamily="18" charset="0"/>
                <a:cs typeface="Times New Roman" panose="02020603050405020304" pitchFamily="18" charset="0"/>
              </a:rPr>
              <a:t>Insight 1</a:t>
            </a:r>
          </a:p>
          <a:p>
            <a:pPr algn="just"/>
            <a:r>
              <a:rPr lang="en-IN" sz="2000" dirty="0">
                <a:latin typeface="Times New Roman" panose="02020603050405020304" pitchFamily="18" charset="0"/>
                <a:cs typeface="Times New Roman" panose="02020603050405020304" pitchFamily="18" charset="0"/>
              </a:rPr>
              <a:t>               Cluster 3 contains nearly half of all customer, making it the dominant customer segment.</a:t>
            </a:r>
          </a:p>
          <a:p>
            <a:pPr marL="342900" indent="-342900" algn="just">
              <a:buFont typeface="Arial" panose="020B060402020209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90204" pitchFamily="34" charset="0"/>
              <a:buChar char="•"/>
            </a:pPr>
            <a:r>
              <a:rPr lang="en-IN" sz="2000" dirty="0">
                <a:latin typeface="Times New Roman" panose="02020603050405020304" pitchFamily="18" charset="0"/>
                <a:cs typeface="Times New Roman" panose="02020603050405020304" pitchFamily="18" charset="0"/>
              </a:rPr>
              <a:t>Insight 2 </a:t>
            </a:r>
          </a:p>
          <a:p>
            <a:pPr algn="just"/>
            <a:r>
              <a:rPr lang="en-IN" sz="2000" dirty="0">
                <a:latin typeface="Times New Roman" panose="02020603050405020304" pitchFamily="18" charset="0"/>
                <a:cs typeface="Times New Roman" panose="02020603050405020304" pitchFamily="18" charset="0"/>
              </a:rPr>
              <a:t>              while Cluster 1 demonstrates the highest spending behaviour. This suggests that revenue is likely driven by a smaller group of high-value customers </a:t>
            </a:r>
          </a:p>
          <a:p>
            <a:pPr marL="342900" indent="-342900" algn="just">
              <a:buFont typeface="Arial" panose="020B060402020209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90204" pitchFamily="34" charset="0"/>
              <a:buChar char="•"/>
            </a:pPr>
            <a:r>
              <a:rPr lang="en-IN" sz="2000" dirty="0">
                <a:latin typeface="Times New Roman" panose="02020603050405020304" pitchFamily="18" charset="0"/>
                <a:cs typeface="Times New Roman" panose="02020603050405020304" pitchFamily="18" charset="0"/>
              </a:rPr>
              <a:t>Insight 3 </a:t>
            </a:r>
          </a:p>
          <a:p>
            <a:pPr algn="just"/>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Cluster 2 Occasional Customers Lower spending levels. Small customer population.</a:t>
            </a:r>
          </a:p>
          <a:p>
            <a:pPr marL="342900" indent="-342900" algn="just">
              <a:buFont typeface="Arial" panose="020B060402020209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90204" pitchFamily="34" charset="0"/>
              <a:buChar char="•"/>
            </a:pPr>
            <a:r>
              <a:rPr lang="en-IN" sz="2000" dirty="0">
                <a:latin typeface="Times New Roman" panose="02020603050405020304" pitchFamily="18" charset="0"/>
                <a:cs typeface="Times New Roman" panose="02020603050405020304" pitchFamily="18" charset="0"/>
              </a:rPr>
              <a:t>Insight 4 </a:t>
            </a:r>
          </a:p>
          <a:p>
            <a:pPr algn="just"/>
            <a:r>
              <a:rPr lang="en-IN" sz="2000" dirty="0">
                <a:latin typeface="Times New Roman" panose="02020603050405020304" pitchFamily="18" charset="0"/>
                <a:cs typeface="Times New Roman" panose="02020603050405020304" pitchFamily="18" charset="0"/>
              </a:rPr>
              <a:t>             Marketing campaigns targeting cluster 3 for improve their sales and also in any occasional targeting cluster 2 for better marketing.</a:t>
            </a:r>
          </a:p>
          <a:p>
            <a:endParaRPr lang="en-IN" sz="2000" dirty="0"/>
          </a:p>
        </p:txBody>
      </p:sp>
      <p:pic>
        <p:nvPicPr>
          <p:cNvPr id="7" name="Picture 6">
            <a:extLst>
              <a:ext uri="{FF2B5EF4-FFF2-40B4-BE49-F238E27FC236}">
                <a16:creationId xmlns:a16="http://schemas.microsoft.com/office/drawing/2014/main" id="{96EB7030-61B4-9D68-1A42-908379EAFF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8285" y="1393992"/>
            <a:ext cx="5427406" cy="4392971"/>
          </a:xfrm>
          <a:prstGeom prst="rect">
            <a:avLst/>
          </a:prstGeom>
        </p:spPr>
      </p:pic>
    </p:spTree>
    <p:extLst>
      <p:ext uri="{BB962C8B-B14F-4D97-AF65-F5344CB8AC3E}">
        <p14:creationId xmlns:p14="http://schemas.microsoft.com/office/powerpoint/2010/main" val="3355359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2DD2F2-A476-8393-D3B3-D9651665D0F5}"/>
              </a:ext>
            </a:extLst>
          </p:cNvPr>
          <p:cNvSpPr txBox="1"/>
          <p:nvPr/>
        </p:nvSpPr>
        <p:spPr>
          <a:xfrm>
            <a:off x="196645" y="399713"/>
            <a:ext cx="6096000" cy="400110"/>
          </a:xfrm>
          <a:prstGeom prst="rect">
            <a:avLst/>
          </a:prstGeom>
          <a:noFill/>
        </p:spPr>
        <p:txBody>
          <a:bodyPr wrap="square">
            <a:spAutoFit/>
          </a:bodyPr>
          <a:lstStyle/>
          <a:p>
            <a:r>
              <a:rPr lang="en-IN" sz="2000" b="1" dirty="0"/>
              <a:t>Recommendations</a:t>
            </a:r>
          </a:p>
        </p:txBody>
      </p:sp>
      <p:sp>
        <p:nvSpPr>
          <p:cNvPr id="5" name="TextBox 4">
            <a:extLst>
              <a:ext uri="{FF2B5EF4-FFF2-40B4-BE49-F238E27FC236}">
                <a16:creationId xmlns:a16="http://schemas.microsoft.com/office/drawing/2014/main" id="{9483F16B-1D5A-6C7A-C769-87690CF188A8}"/>
              </a:ext>
            </a:extLst>
          </p:cNvPr>
          <p:cNvSpPr txBox="1"/>
          <p:nvPr/>
        </p:nvSpPr>
        <p:spPr>
          <a:xfrm>
            <a:off x="629264" y="1438919"/>
            <a:ext cx="11159613" cy="4093428"/>
          </a:xfrm>
          <a:prstGeom prst="rect">
            <a:avLst/>
          </a:prstGeom>
          <a:noFill/>
        </p:spPr>
        <p:txBody>
          <a:bodyPr wrap="square">
            <a:spAutoFit/>
          </a:bodyPr>
          <a:lstStyle/>
          <a:p>
            <a:pPr marL="285750" indent="-285750" algn="just">
              <a:buFont typeface="Arial" panose="020B0604020202090204" pitchFamily="34" charset="0"/>
              <a:buChar char="•"/>
            </a:pPr>
            <a:r>
              <a:rPr lang="en-IN" sz="2000" b="1" dirty="0">
                <a:latin typeface="Times New Roman" panose="02020603050405020304" pitchFamily="18" charset="0"/>
                <a:cs typeface="Times New Roman" panose="02020603050405020304" pitchFamily="18" charset="0"/>
              </a:rPr>
              <a:t>Focus on High-Value Customers (Cluster 1)</a:t>
            </a:r>
          </a:p>
          <a:p>
            <a:pPr lvl="0" algn="just"/>
            <a:r>
              <a:rPr lang="en-IN" sz="2000" dirty="0">
                <a:latin typeface="Times New Roman" panose="02020603050405020304" pitchFamily="18" charset="0"/>
                <a:cs typeface="Times New Roman" panose="02020603050405020304" pitchFamily="18" charset="0"/>
              </a:rPr>
              <a:t>           Introduce VIP membership and loyalty reward programs. </a:t>
            </a:r>
          </a:p>
          <a:p>
            <a:pPr lvl="0" algn="just"/>
            <a:r>
              <a:rPr lang="en-IN" sz="2000" dirty="0">
                <a:latin typeface="Times New Roman" panose="02020603050405020304" pitchFamily="18" charset="0"/>
                <a:cs typeface="Times New Roman" panose="02020603050405020304" pitchFamily="18" charset="0"/>
              </a:rPr>
              <a:t>           Offer personalized product recommendations. </a:t>
            </a:r>
          </a:p>
          <a:p>
            <a:pPr lvl="0" algn="just"/>
            <a:r>
              <a:rPr lang="en-IN" sz="2000" dirty="0">
                <a:latin typeface="Times New Roman" panose="02020603050405020304" pitchFamily="18" charset="0"/>
                <a:cs typeface="Times New Roman" panose="02020603050405020304" pitchFamily="18" charset="0"/>
              </a:rPr>
              <a:t>           Provide exclusive discounts and early access to new products. </a:t>
            </a:r>
          </a:p>
          <a:p>
            <a:pPr lvl="0" algn="just"/>
            <a:r>
              <a:rPr lang="en-IN" sz="2000" dirty="0">
                <a:latin typeface="Times New Roman" panose="02020603050405020304" pitchFamily="18" charset="0"/>
                <a:cs typeface="Times New Roman" panose="02020603050405020304" pitchFamily="18" charset="0"/>
              </a:rPr>
              <a:t>           Monitor this segment closely as it contributes the highest spending. </a:t>
            </a:r>
          </a:p>
          <a:p>
            <a:pPr marL="285750" lvl="0" indent="-285750" algn="just">
              <a:buFont typeface="Arial" panose="020B0604020202090204" pitchFamily="34" charset="0"/>
              <a:buChar char="•"/>
            </a:pPr>
            <a:r>
              <a:rPr lang="en-IN" sz="2000" b="1" dirty="0">
                <a:latin typeface="Times New Roman" panose="02020603050405020304" pitchFamily="18" charset="0"/>
                <a:cs typeface="Times New Roman" panose="02020603050405020304" pitchFamily="18" charset="0"/>
              </a:rPr>
              <a:t>Upsell Regular Customers (Cluster 0)</a:t>
            </a:r>
          </a:p>
          <a:p>
            <a:pPr lvl="0" algn="just"/>
            <a:r>
              <a:rPr lang="en-IN" sz="2000" dirty="0">
                <a:latin typeface="Times New Roman" panose="02020603050405020304" pitchFamily="18" charset="0"/>
                <a:cs typeface="Times New Roman" panose="02020603050405020304" pitchFamily="18" charset="0"/>
              </a:rPr>
              <a:t>            Use cross-selling and bundle offers to increase basket size. </a:t>
            </a:r>
          </a:p>
          <a:p>
            <a:pPr lvl="0" algn="just"/>
            <a:r>
              <a:rPr lang="en-IN" sz="2000" dirty="0">
                <a:latin typeface="Times New Roman" panose="02020603050405020304" pitchFamily="18" charset="0"/>
                <a:cs typeface="Times New Roman" panose="02020603050405020304" pitchFamily="18" charset="0"/>
              </a:rPr>
              <a:t>            Recommend complementary products based on purchase history. </a:t>
            </a:r>
          </a:p>
          <a:p>
            <a:pPr lvl="0" algn="just"/>
            <a:r>
              <a:rPr lang="en-IN" sz="2000" dirty="0">
                <a:latin typeface="Times New Roman" panose="02020603050405020304" pitchFamily="18" charset="0"/>
                <a:cs typeface="Times New Roman" panose="02020603050405020304" pitchFamily="18" charset="0"/>
              </a:rPr>
              <a:t>            Encourage higher spending through targeted promotions. </a:t>
            </a:r>
          </a:p>
          <a:p>
            <a:pPr marL="285750" lvl="0" indent="-285750" algn="just">
              <a:buFont typeface="Arial" panose="020B0604020202090204" pitchFamily="34" charset="0"/>
              <a:buChar char="•"/>
            </a:pPr>
            <a:r>
              <a:rPr lang="en-IN" sz="2000" b="1" dirty="0">
                <a:latin typeface="Times New Roman" panose="02020603050405020304" pitchFamily="18" charset="0"/>
                <a:cs typeface="Times New Roman" panose="02020603050405020304" pitchFamily="18" charset="0"/>
              </a:rPr>
              <a:t>Improve Engagement of Low-Spending Customers (Cluster 2)</a:t>
            </a:r>
          </a:p>
          <a:p>
            <a:pPr lvl="0" algn="just"/>
            <a:r>
              <a:rPr lang="en-IN" sz="2000" dirty="0">
                <a:latin typeface="Times New Roman" panose="02020603050405020304" pitchFamily="18" charset="0"/>
                <a:cs typeface="Times New Roman" panose="02020603050405020304" pitchFamily="18" charset="0"/>
              </a:rPr>
              <a:t>            Launch discount campaigns and special offers. </a:t>
            </a:r>
          </a:p>
          <a:p>
            <a:pPr lvl="0" algn="just"/>
            <a:r>
              <a:rPr lang="en-IN" sz="2000" dirty="0">
                <a:latin typeface="Times New Roman" panose="02020603050405020304" pitchFamily="18" charset="0"/>
                <a:cs typeface="Times New Roman" panose="02020603050405020304" pitchFamily="18" charset="0"/>
              </a:rPr>
              <a:t>            Send personalized email and SMS marketing campaigns. </a:t>
            </a:r>
          </a:p>
          <a:p>
            <a:pPr lvl="0" algn="just"/>
            <a:r>
              <a:rPr lang="en-IN" sz="2000" dirty="0">
                <a:latin typeface="Times New Roman" panose="02020603050405020304" pitchFamily="18" charset="0"/>
                <a:cs typeface="Times New Roman" panose="02020603050405020304" pitchFamily="18" charset="0"/>
              </a:rPr>
              <a:t>            Identify factors limiting spending and address them through targeted incentives.</a:t>
            </a:r>
          </a:p>
        </p:txBody>
      </p:sp>
    </p:spTree>
    <p:extLst>
      <p:ext uri="{BB962C8B-B14F-4D97-AF65-F5344CB8AC3E}">
        <p14:creationId xmlns:p14="http://schemas.microsoft.com/office/powerpoint/2010/main" val="1958378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B2B71A-C371-E713-1534-758627D3B514}"/>
              </a:ext>
            </a:extLst>
          </p:cNvPr>
          <p:cNvSpPr txBox="1"/>
          <p:nvPr/>
        </p:nvSpPr>
        <p:spPr>
          <a:xfrm>
            <a:off x="383458" y="442451"/>
            <a:ext cx="2595716"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Conclusion</a:t>
            </a:r>
          </a:p>
        </p:txBody>
      </p:sp>
      <p:sp>
        <p:nvSpPr>
          <p:cNvPr id="4" name="TextBox 3">
            <a:extLst>
              <a:ext uri="{FF2B5EF4-FFF2-40B4-BE49-F238E27FC236}">
                <a16:creationId xmlns:a16="http://schemas.microsoft.com/office/drawing/2014/main" id="{2ED1BC7B-E697-3DAE-D3FD-C31E0B1804A8}"/>
              </a:ext>
            </a:extLst>
          </p:cNvPr>
          <p:cNvSpPr txBox="1"/>
          <p:nvPr/>
        </p:nvSpPr>
        <p:spPr>
          <a:xfrm>
            <a:off x="1037303" y="1959272"/>
            <a:ext cx="10117394" cy="2554545"/>
          </a:xfrm>
          <a:prstGeom prst="rect">
            <a:avLst/>
          </a:prstGeom>
          <a:noFill/>
        </p:spPr>
        <p:txBody>
          <a:bodyPr wrap="square">
            <a:spAutoFit/>
          </a:bodyPr>
          <a:lstStyle/>
          <a:p>
            <a:pPr algn="just"/>
            <a:r>
              <a:rPr lang="en-IN" sz="2000" dirty="0">
                <a:latin typeface="Times New Roman" panose="02020603050405020304" pitchFamily="18" charset="0"/>
                <a:cs typeface="Times New Roman" panose="02020603050405020304" pitchFamily="18" charset="0"/>
              </a:rPr>
              <a:t>Customer segmentation using K-Means clustering successfully identified four distinct customer groups with different spending behaviours. Cluster 1 represents the most valuable customers, exhibiting the highest monthly spending and strongest revenue potential. Cluster 3 forms the largest customer segment, contributing significantly through customer volume. Clusters 0 and 2 represent moderate and lower-spending customers, offering opportunities for upselling and engagement improvement. By implementing cluster-specific marketing, retention, and loyalty strategies, the business can improve customer satisfaction, increase revenue, and optimize marketing effectiveness.</a:t>
            </a:r>
          </a:p>
        </p:txBody>
      </p:sp>
    </p:spTree>
    <p:extLst>
      <p:ext uri="{BB962C8B-B14F-4D97-AF65-F5344CB8AC3E}">
        <p14:creationId xmlns:p14="http://schemas.microsoft.com/office/powerpoint/2010/main" val="4202266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4F20D3-C7F5-E846-8D7D-5765A8F587A4}"/>
              </a:ext>
            </a:extLst>
          </p:cNvPr>
          <p:cNvSpPr txBox="1"/>
          <p:nvPr/>
        </p:nvSpPr>
        <p:spPr>
          <a:xfrm>
            <a:off x="2939845" y="2290916"/>
            <a:ext cx="4975123" cy="2585323"/>
          </a:xfrm>
          <a:prstGeom prst="rect">
            <a:avLst/>
          </a:prstGeom>
          <a:noFill/>
        </p:spPr>
        <p:txBody>
          <a:bodyPr wrap="square" rtlCol="0">
            <a:spAutoFit/>
          </a:bodyPr>
          <a:lstStyle/>
          <a:p>
            <a:pPr algn="ctr"/>
            <a:r>
              <a:rPr lang="en-IN" sz="5400" dirty="0">
                <a:latin typeface="Times New Roman" panose="02020603050405020304" pitchFamily="18" charset="0"/>
                <a:cs typeface="Times New Roman" panose="02020603050405020304" pitchFamily="18" charset="0"/>
              </a:rPr>
              <a:t>Thank you </a:t>
            </a:r>
          </a:p>
          <a:p>
            <a:pPr algn="ctr"/>
            <a:endParaRPr lang="en-IN" sz="5400" dirty="0">
              <a:latin typeface="Times New Roman" panose="02020603050405020304" pitchFamily="18" charset="0"/>
              <a:cs typeface="Times New Roman" panose="02020603050405020304" pitchFamily="18" charset="0"/>
            </a:endParaRPr>
          </a:p>
          <a:p>
            <a:pPr algn="ctr"/>
            <a:r>
              <a:rPr lang="en-IN" sz="5400" dirty="0">
                <a:latin typeface="Times New Roman" panose="02020603050405020304" pitchFamily="18" charset="0"/>
                <a:cs typeface="Times New Roman" panose="02020603050405020304" pitchFamily="18" charset="0"/>
              </a:rPr>
              <a:t>Q/A</a:t>
            </a:r>
          </a:p>
        </p:txBody>
      </p:sp>
    </p:spTree>
    <p:extLst>
      <p:ext uri="{BB962C8B-B14F-4D97-AF65-F5344CB8AC3E}">
        <p14:creationId xmlns:p14="http://schemas.microsoft.com/office/powerpoint/2010/main" val="7746773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90</TotalTime>
  <Words>920</Words>
  <Application>Microsoft Office PowerPoint</Application>
  <PresentationFormat>Widescreen</PresentationFormat>
  <Paragraphs>80</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Century Gothic</vt:lpstr>
      <vt:lpstr>Times New Roman</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Rakesh Gopireddy</dc:creator>
  <cp:lastModifiedBy>Rakesh Gopireddy</cp:lastModifiedBy>
  <cp:revision>1</cp:revision>
  <dcterms:created xsi:type="dcterms:W3CDTF">2026-09-03T04:09:08Z</dcterms:created>
  <dcterms:modified xsi:type="dcterms:W3CDTF">2026-09-03T05:39:22Z</dcterms:modified>
</cp:coreProperties>
</file>